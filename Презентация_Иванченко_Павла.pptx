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5" r:id="rId12"/>
    <p:sldId id="266" r:id="rId13"/>
    <p:sldId id="261" r:id="rId14"/>
    <p:sldId id="267" r:id="rId15"/>
    <p:sldId id="262" r:id="rId16"/>
    <p:sldId id="263" r:id="rId17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/>
  <p:extLst>
    <p:ext uri="smNativeData">
      <pr:smAppRevision xmlns:pr="smNativeData" xmlns="smNativeData" dt="1747857170" val="1068" revOS="4"/>
      <pr:smFileRevision xmlns:pr="smNativeData" xmlns="smNativeData" dt="1747857170" val="101"/>
      <pr:guideOptions xmlns:pr="smNativeData" xmlns="smNativeData" dt="1747857170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96" d="100"/>
          <a:sy n="96" d="100"/>
        </p:scale>
        <p:origin x="380" y="286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7" d="100"/>
        <a:sy n="17" d="100"/>
      </p:scale>
      <p:origin x="0" y="0"/>
    </p:cViewPr>
  </p:sorterViewPr>
  <p:notesViewPr>
    <p:cSldViewPr snapToGrid="0">
      <p:cViewPr>
        <p:scale>
          <a:sx n="96" d="100"/>
          <a:sy n="96" d="100"/>
        </p:scale>
        <p:origin x="380" y="286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NoYX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E6c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2A9EFF4F-01C7-CB09-8926-F75CB1687FA2}" type="datetime1">
              <a:t>18.12.2024</a:t>
            </a:fld>
          </a:p>
        </p:txBody>
      </p:sp>
      <p:sp>
        <p:nvSpPr>
          <p:cNvPr id="4" name="Рисунок 3"/>
          <p:cNvSpPr>
            <a:spLocks noGrp="1" noChangeArrowheads="1"/>
            <a:extLst>
              <a:ext uri="smNativeData">
                <pr:smNativeData xmlns:pr="smNativeData" xmlns="smNativeData" val="SMDATA_15_Ei8uaB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Zld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</a:p>
        </p:txBody>
      </p:sp>
      <p:sp>
        <p:nvSpPr>
          <p:cNvPr id="5" name="Заметка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5n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sa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2A9E9009-47C7-CB66-8926-B133DE687FE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notesStyle>
</p:notesMaster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UAABs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lang="ru-ru" cap="none">
                <a:solidFill>
                  <a:srgbClr val="262626"/>
                </a:solidFill>
              </a:defRPr>
            </a:lvl1pPr>
            <a:lvl2pPr marL="457200" indent="0" algn="ctr">
              <a:buNone/>
              <a:defRPr lang="ru-ru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ru-ru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ru-ru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ru-ru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ru-ru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ru-ru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ru-ru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ru-ru" cap="none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DD29-67C7-CB2B-8926-917E93687FC4}" type="datetime1">
              <a:t>18.12.2024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K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A14F-01C7-CB57-8926-F702EF687FA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B30C-42C7-CB45-8926-B410FD687FE1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E159-17C7-CB17-8926-E142AF687FB4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4000" b="1" cap="all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7QUAAOIRAACtRQAAHBsAABAAAAAmAAAACAAAAIGAAAAAAAAA"/>
              </a:ext>
            </a:extLst>
          </p:cNvSpPr>
          <p:nvPr>
            <p:ph idx="1"/>
          </p:nvPr>
        </p:nvSpPr>
        <p:spPr>
          <a:xfrm>
            <a:off x="963295" y="2907030"/>
            <a:ext cx="103632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ru-ru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ru-ru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ru-ru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ru-ru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ru-ru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ru-ru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ru-ru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ru-ru" sz="1400" cap="none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I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BAA4-EAC7-CB4C-8926-1C19F4687F49}" type="datetime1">
              <a:t>18.12.2024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A561-2FC7-CB53-8926-D906EB687F8C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K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gJAADg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defRPr lang="ru-ru" sz="2800" cap="none"/>
            </a:lvl1pPr>
            <a:lvl2pPr>
              <a:defRPr lang="ru-ru" sz="2400" cap="none"/>
            </a:lvl2pPr>
            <a:lvl3pPr>
              <a:defRPr lang="ru-ru" sz="2000" cap="none"/>
            </a:lvl3pPr>
            <a:lvl4pPr>
              <a:defRPr lang="ru-ru" sz="1800" cap="none"/>
            </a:lvl4pPr>
            <a:lvl5pPr>
              <a:defRPr lang="ru-ru" sz="1800" cap="none"/>
            </a:lvl5pPr>
            <a:lvl6pPr>
              <a:defRPr lang="ru-ru" sz="1800" cap="none"/>
            </a:lvl6pPr>
            <a:lvl7pPr>
              <a:defRPr lang="ru-ru" sz="1800" cap="none"/>
            </a:lvl7pPr>
            <a:lvl8pPr>
              <a:defRPr lang="ru-ru" sz="1800" cap="none"/>
            </a:lvl8pPr>
            <a:lvl9pPr>
              <a:defRPr lang="ru-ru" sz="18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K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CYAANgJAABARwAAsCUAABAAAAAmAAAACAAAAAGAAAAAAAAA"/>
              </a:ext>
            </a:extLst>
          </p:cNvSpPr>
          <p:nvPr>
            <p:ph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defRPr lang="ru-ru" sz="2800" cap="none"/>
            </a:lvl1pPr>
            <a:lvl2pPr>
              <a:defRPr lang="ru-ru" sz="2400" cap="none"/>
            </a:lvl2pPr>
            <a:lvl3pPr>
              <a:defRPr lang="ru-ru" sz="2000" cap="none"/>
            </a:lvl3pPr>
            <a:lvl4pPr>
              <a:defRPr lang="ru-ru" sz="1800" cap="none"/>
            </a:lvl4pPr>
            <a:lvl5pPr>
              <a:defRPr lang="ru-ru" sz="1800" cap="none"/>
            </a:lvl5pPr>
            <a:lvl6pPr>
              <a:defRPr lang="ru-ru" sz="1800" cap="none"/>
            </a:lvl6pPr>
            <a:lvl7pPr>
              <a:defRPr lang="ru-ru" sz="1800" cap="none"/>
            </a:lvl7pPr>
            <a:lvl8pPr>
              <a:defRPr lang="ru-ru" sz="1800" cap="none"/>
            </a:lvl8pPr>
            <a:lvl9pPr>
              <a:defRPr lang="ru-ru" sz="18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CE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981D-53C7-CB6E-8926-A53BD6687FF0}" type="datetime1">
              <a:t>18.12.2024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EE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9171-3FC7-CB67-8926-C932DF687F9C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EE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HIJAADjJAAAYQ0AABAAAAAmAAAACAAAAIGAAAAAAAAA"/>
              </a:ext>
            </a:extLst>
          </p:cNvSpPr>
          <p:nvPr>
            <p:ph idx="1"/>
          </p:nvPr>
        </p:nvSpPr>
        <p:spPr>
          <a:xfrm>
            <a:off x="609600" y="1535430"/>
            <a:ext cx="53867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 cap="none"/>
            </a:lvl1pPr>
            <a:lvl2pPr marL="457200" indent="0">
              <a:buNone/>
              <a:defRPr lang="ru-ru" sz="2000" b="1" cap="none"/>
            </a:lvl2pPr>
            <a:lvl3pPr marL="914400" indent="0">
              <a:buNone/>
              <a:defRPr lang="ru-ru" sz="1800" b="1" cap="none"/>
            </a:lvl3pPr>
            <a:lvl4pPr marL="1371600" indent="0">
              <a:buNone/>
              <a:defRPr lang="ru-ru" sz="1600" b="1" cap="none"/>
            </a:lvl4pPr>
            <a:lvl5pPr marL="1828800" indent="0">
              <a:buNone/>
              <a:defRPr lang="ru-ru" sz="1600" b="1" cap="none"/>
            </a:lvl5pPr>
            <a:lvl6pPr marL="2286000" indent="0">
              <a:buNone/>
              <a:defRPr lang="ru-ru" sz="1600" b="1" cap="none"/>
            </a:lvl6pPr>
            <a:lvl7pPr marL="2743200" indent="0">
              <a:buNone/>
              <a:defRPr lang="ru-ru" sz="1600" b="1" cap="none"/>
            </a:lvl7pPr>
            <a:lvl8pPr marL="3200400" indent="0">
              <a:buNone/>
              <a:defRPr lang="ru-ru" sz="1600" b="1" cap="none"/>
            </a:lvl8pPr>
            <a:lvl9pPr marL="3657600" indent="0">
              <a:buNone/>
              <a:defRPr lang="ru-ru" sz="1600" b="1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GENAADjJAAAry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0970"/>
          </a:xfrm>
        </p:spPr>
        <p:txBody>
          <a:bodyPr/>
          <a:lstStyle>
            <a:lvl1pPr>
              <a:defRPr lang="ru-ru" sz="2400" cap="none"/>
            </a:lvl1pPr>
            <a:lvl2pPr>
              <a:defRPr lang="ru-ru" sz="2000" cap="none"/>
            </a:lvl2pPr>
            <a:lvl3pPr>
              <a:defRPr lang="ru-ru" sz="1800" cap="none"/>
            </a:lvl3pPr>
            <a:lvl4pPr>
              <a:defRPr lang="ru-ru" sz="1600" cap="none"/>
            </a:lvl4pPr>
            <a:lvl5pPr>
              <a:defRPr lang="ru-ru" sz="1600" cap="none"/>
            </a:lvl5pPr>
            <a:lvl6pPr>
              <a:defRPr lang="ru-ru" sz="1600" cap="none"/>
            </a:lvl6pPr>
            <a:lvl7pPr>
              <a:defRPr lang="ru-ru" sz="1600" cap="none"/>
            </a:lvl7pPr>
            <a:lvl8pPr>
              <a:defRPr lang="ru-ru" sz="1600" cap="none"/>
            </a:lvl8pPr>
            <a:lvl9pPr>
              <a:defRPr lang="ru-ru" sz="16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GSYAAHIJAABARwAAYQ0AABAAAAAmAAAACAAAAIGAAAAAAAAA"/>
              </a:ext>
            </a:extLst>
          </p:cNvSpPr>
          <p:nvPr>
            <p:ph idx="3"/>
          </p:nvPr>
        </p:nvSpPr>
        <p:spPr>
          <a:xfrm>
            <a:off x="6193155" y="1535430"/>
            <a:ext cx="538924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2400" b="1" cap="none"/>
            </a:lvl1pPr>
            <a:lvl2pPr marL="457200" indent="0">
              <a:buNone/>
              <a:defRPr lang="ru-ru" sz="2000" b="1" cap="none"/>
            </a:lvl2pPr>
            <a:lvl3pPr marL="914400" indent="0">
              <a:buNone/>
              <a:defRPr lang="ru-ru" sz="1800" b="1" cap="none"/>
            </a:lvl3pPr>
            <a:lvl4pPr marL="1371600" indent="0">
              <a:buNone/>
              <a:defRPr lang="ru-ru" sz="1600" b="1" cap="none"/>
            </a:lvl4pPr>
            <a:lvl5pPr marL="1828800" indent="0">
              <a:buNone/>
              <a:defRPr lang="ru-ru" sz="1600" b="1" cap="none"/>
            </a:lvl5pPr>
            <a:lvl6pPr marL="2286000" indent="0">
              <a:buNone/>
              <a:defRPr lang="ru-ru" sz="1600" b="1" cap="none"/>
            </a:lvl6pPr>
            <a:lvl7pPr marL="2743200" indent="0">
              <a:buNone/>
              <a:defRPr lang="ru-ru" sz="1600" b="1" cap="none"/>
            </a:lvl7pPr>
            <a:lvl8pPr marL="3200400" indent="0">
              <a:buNone/>
              <a:defRPr lang="ru-ru" sz="1600" b="1" cap="none"/>
            </a:lvl8pPr>
            <a:lvl9pPr marL="3657600" indent="0">
              <a:buNone/>
              <a:defRPr lang="ru-ru" sz="1600" b="1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GSYAAGENAABARwAAryUAABAAAAAmAAAACAAAAAGAAAAAAAAA"/>
              </a:ext>
            </a:extLst>
          </p:cNvSpPr>
          <p:nvPr>
            <p:ph idx="4"/>
          </p:nvPr>
        </p:nvSpPr>
        <p:spPr>
          <a:xfrm>
            <a:off x="6193155" y="2174875"/>
            <a:ext cx="5389245" cy="3950970"/>
          </a:xfrm>
        </p:spPr>
        <p:txBody>
          <a:bodyPr/>
          <a:lstStyle>
            <a:lvl1pPr>
              <a:defRPr lang="ru-ru" sz="2400" cap="none"/>
            </a:lvl1pPr>
            <a:lvl2pPr>
              <a:defRPr lang="ru-ru" sz="2000" cap="none"/>
            </a:lvl2pPr>
            <a:lvl3pPr>
              <a:defRPr lang="ru-ru" sz="1800" cap="none"/>
            </a:lvl3pPr>
            <a:lvl4pPr>
              <a:defRPr lang="ru-ru" sz="1600" cap="none"/>
            </a:lvl4pPr>
            <a:lvl5pPr>
              <a:defRPr lang="ru-ru" sz="1600" cap="none"/>
            </a:lvl5pPr>
            <a:lvl6pPr>
              <a:defRPr lang="ru-ru" sz="1600" cap="none"/>
            </a:lvl6pPr>
            <a:lvl7pPr>
              <a:defRPr lang="ru-ru" sz="1600" cap="none"/>
            </a:lvl7pPr>
            <a:lvl8pPr>
              <a:defRPr lang="ru-ru" sz="1600" cap="none"/>
            </a:lvl8pPr>
            <a:lvl9pPr>
              <a:defRPr lang="ru-ru" sz="16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D8E4-AAC7-CB2E-8926-5C7B96687F09}" type="datetime1">
              <a:t>18.12.2024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A04C-02C7-CB56-8926-F403EE687FA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Q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9970-3EC7-CB6F-8926-C83AD7687F9D}" type="datetime1">
              <a:t>18.12.2024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DF3E-70C7-CB29-8926-867C91687FD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B2B7-F9C7-CB44-8926-0F11FC687F5A}" type="datetime1">
              <a:t/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EF61-2FC7-CB19-8926-D94CA1687F8C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K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lang="ru-ru" sz="3200" cap="none"/>
            </a:lvl1pPr>
            <a:lvl2pPr>
              <a:defRPr lang="ru-ru" sz="2800" cap="none"/>
            </a:lvl2pPr>
            <a:lvl3pPr>
              <a:defRPr lang="ru-ru" sz="2400" cap="none"/>
            </a:lvl3pPr>
            <a:lvl4pPr>
              <a:defRPr lang="ru-ru" sz="2000" cap="none"/>
            </a:lvl4pPr>
            <a:lvl5pPr>
              <a:defRPr lang="ru-ru" sz="2000" cap="none"/>
            </a:lvl5pPr>
            <a:lvl6pPr>
              <a:defRPr lang="ru-ru" sz="2000" cap="none"/>
            </a:lvl6pPr>
            <a:lvl7pPr>
              <a:defRPr lang="ru-ru" sz="2000" cap="none"/>
            </a:lvl7pPr>
            <a:lvl8pPr>
              <a:defRPr lang="ru-ru" sz="2000" cap="none"/>
            </a:lvl8pPr>
            <a:lvl9pPr>
              <a:defRPr lang="ru-ru" sz="20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lang="ru-ru" sz="1400" cap="none"/>
            </a:lvl1pPr>
            <a:lvl2pPr marL="457200" indent="0">
              <a:buNone/>
              <a:defRPr lang="ru-ru" sz="1200" cap="none"/>
            </a:lvl2pPr>
            <a:lvl3pPr marL="914400" indent="0">
              <a:buNone/>
              <a:defRPr lang="ru-ru" sz="1000" cap="none"/>
            </a:lvl3pPr>
            <a:lvl4pPr marL="1371600" indent="0">
              <a:buNone/>
              <a:defRPr lang="ru-ru" sz="900" cap="none"/>
            </a:lvl4pPr>
            <a:lvl5pPr marL="1828800" indent="0">
              <a:buNone/>
              <a:defRPr lang="ru-ru" sz="900" cap="none"/>
            </a:lvl5pPr>
            <a:lvl6pPr marL="2286000" indent="0">
              <a:buNone/>
              <a:defRPr lang="ru-ru" sz="900" cap="none"/>
            </a:lvl6pPr>
            <a:lvl7pPr marL="2743200" indent="0">
              <a:buNone/>
              <a:defRPr lang="ru-ru" sz="900" cap="none"/>
            </a:lvl7pPr>
            <a:lvl8pPr marL="3200400" indent="0">
              <a:buNone/>
              <a:defRPr lang="ru-ru" sz="900" cap="none"/>
            </a:lvl8pPr>
            <a:lvl9pPr marL="3657600" indent="0">
              <a:buNone/>
              <a:defRPr lang="ru-ru" sz="9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9DEE-A0C7-CB6B-8926-563ED3687F03}" type="datetime1">
              <a:t>18.12.2024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L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EE19-57C7-CB18-8926-A14DA0687FF4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8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IgdAACzOwAABS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2000" b="1" cap="none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MUDAACzOwAAFR0AABAAAAAmAAAACAAAAAGAAAAAAAAA"/>
              </a:ext>
            </a:extLst>
          </p:cNvSpPr>
          <p:nvPr>
            <p:ph type="pic" idx="1"/>
          </p:nvPr>
        </p:nvSpPr>
        <p:spPr>
          <a:xfrm>
            <a:off x="2389505" y="612775"/>
            <a:ext cx="7315200" cy="4114800"/>
          </a:xfrm>
        </p:spPr>
        <p:txBody>
          <a:bodyPr/>
          <a:lstStyle>
            <a:lvl1pPr marL="0" indent="0">
              <a:buNone/>
              <a:defRPr lang="ru-ru" sz="3200" cap="none"/>
            </a:lvl1pPr>
            <a:lvl2pPr marL="457200" indent="0">
              <a:buNone/>
              <a:defRPr lang="ru-ru" sz="2800" cap="none"/>
            </a:lvl2pPr>
            <a:lvl3pPr marL="914400" indent="0">
              <a:buNone/>
              <a:defRPr lang="ru-ru" sz="2400" cap="none"/>
            </a:lvl3pPr>
            <a:lvl4pPr marL="1371600" indent="0">
              <a:buNone/>
              <a:defRPr lang="ru-ru" sz="2000" cap="none"/>
            </a:lvl4pPr>
            <a:lvl5pPr marL="1828800" indent="0">
              <a:buNone/>
              <a:defRPr lang="ru-ru" sz="2000" cap="none"/>
            </a:lvl5pPr>
            <a:lvl6pPr marL="2286000" indent="0">
              <a:buNone/>
              <a:defRPr lang="ru-ru" sz="2000" cap="none"/>
            </a:lvl6pPr>
            <a:lvl7pPr marL="2743200" indent="0">
              <a:buNone/>
              <a:defRPr lang="ru-ru" sz="2000" cap="none"/>
            </a:lvl7pPr>
            <a:lvl8pPr marL="3200400" indent="0">
              <a:buNone/>
              <a:defRPr lang="ru-ru" sz="2000" cap="none"/>
            </a:lvl8pPr>
            <a:lvl9pPr marL="3657600" indent="0">
              <a:buNone/>
              <a:defRPr lang="ru-ru" sz="2000" cap="none"/>
            </a:lvl9pPr>
          </a:lstStyle>
          <a:p>
            <a:pPr>
              <a:defRPr lang="ru-ru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AUhAACzOwAA+CUAABAAAAAmAAAACAAAAAGAAAAAAAAA"/>
              </a:ext>
            </a:extLst>
          </p:cNvSpPr>
          <p:nvPr>
            <p:ph idx="2"/>
          </p:nvPr>
        </p:nvSpPr>
        <p:spPr>
          <a:xfrm>
            <a:off x="2389505" y="5367655"/>
            <a:ext cx="7315200" cy="804545"/>
          </a:xfrm>
        </p:spPr>
        <p:txBody>
          <a:bodyPr/>
          <a:lstStyle>
            <a:lvl1pPr marL="0" indent="0">
              <a:buNone/>
              <a:defRPr lang="ru-ru" sz="1400" cap="none"/>
            </a:lvl1pPr>
            <a:lvl2pPr marL="457200" indent="0">
              <a:buNone/>
              <a:defRPr lang="ru-ru" sz="1200" cap="none"/>
            </a:lvl2pPr>
            <a:lvl3pPr marL="914400" indent="0">
              <a:buNone/>
              <a:defRPr lang="ru-ru" sz="1000" cap="none"/>
            </a:lvl3pPr>
            <a:lvl4pPr marL="1371600" indent="0">
              <a:buNone/>
              <a:defRPr lang="ru-ru" sz="900" cap="none"/>
            </a:lvl4pPr>
            <a:lvl5pPr marL="1828800" indent="0">
              <a:buNone/>
              <a:defRPr lang="ru-ru" sz="900" cap="none"/>
            </a:lvl5pPr>
            <a:lvl6pPr marL="2286000" indent="0">
              <a:buNone/>
              <a:defRPr lang="ru-ru" sz="900" cap="none"/>
            </a:lvl6pPr>
            <a:lvl7pPr marL="2743200" indent="0">
              <a:buNone/>
              <a:defRPr lang="ru-ru" sz="900" cap="none"/>
            </a:lvl7pPr>
            <a:lvl8pPr marL="3200400" indent="0">
              <a:buNone/>
              <a:defRPr lang="ru-ru" sz="900" cap="none"/>
            </a:lvl8pPr>
            <a:lvl9pPr marL="3657600" indent="0">
              <a:buNone/>
              <a:defRPr lang="ru-ru" sz="900" cap="none"/>
            </a:lvl9pPr>
          </a:lstStyle>
          <a:p>
            <a:pPr>
              <a:defRPr lang="ru-ru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EE72-3CC7-CB18-8926-CA4DA0687F9F}" type="datetime1">
              <a:t>18.12.2024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Dytk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8F19-57C7-CB79-8926-A12CC1687FF4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O/Aq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E7Fs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EF20-6EC7-CB19-8926-984CA1687FCD}" type="datetime1">
              <a:t>18.12.2024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Bgc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ETPk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8B68-26C7-CB7D-8926-D028C5687F85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PhAnim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Ejby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YDYAALEBAABARwAAsCUAABAAAAAmAAAACAAAAAOAAAAAAAAA"/>
              </a:ext>
            </a:extLst>
          </p:cNvSpPr>
          <p:nvPr>
            <p:ph type="title"/>
          </p:nvPr>
        </p:nvSpPr>
        <p:spPr>
          <a:xfrm>
            <a:off x="8839200" y="274955"/>
            <a:ext cx="27432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ru-ru"/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AgNQAAsCUAABAAAAAmAAAACAAAAAMAAAAAAAAA"/>
              </a:ext>
            </a:extLst>
          </p:cNvSpPr>
          <p:nvPr>
            <p:ph idx="1"/>
          </p:nvPr>
        </p:nvSpPr>
        <p:spPr>
          <a:xfrm>
            <a:off x="609600" y="274955"/>
            <a:ext cx="80264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H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2A9EE306-48C7-CB15-8926-BE40AD687FEB}" type="datetime1">
              <a:t>18.12.2024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DT2Pn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gBM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2A9EFA9B-D5C7-CB0C-8926-2359B4687F7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58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lLbSDP///wgAAAAAAAAAAAAAAAAAAAAAAAAAAAAAAAAAAAAAeAAAAAEAAABAAAAAAAAAAAAAAABaAAAAAAAAAAAAAAAAAAAAAAAAAAAAAAAAAAAAAAAAAAAAAAAAAAAAAAAAAAAAAAAAAAAAAAAAAAAAAAAAAAAAAAAAAAAAAAAAAAAAFAAAADwAAAAB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stroke="0">
                <a:moveTo>
                  <a:pt x="0" y="4811328"/>
                </a:moveTo>
                <a:cubicBezTo>
                  <a:pt x="0" y="4811328"/>
                  <a:pt x="8536093" y="8240776"/>
                  <a:pt x="12192000" y="5561554"/>
                </a:cubicBezTo>
                <a:lnTo>
                  <a:pt x="12192000" y="0"/>
                </a:lnTo>
                <a:lnTo>
                  <a:pt x="0" y="0"/>
                </a:lnTo>
                <a:lnTo>
                  <a:pt x="0" y="4811328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</p:sp>
      <p:sp>
        <p:nvSpPr>
          <p:cNvPr id="3" name="Shape 1059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M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811328"/>
                </a:moveTo>
                <a:cubicBezTo>
                  <a:pt x="-6208" y="4811328"/>
                  <a:pt x="8559800" y="8240776"/>
                  <a:pt x="12204700" y="5561554"/>
                </a:cubicBezTo>
              </a:path>
            </a:pathLst>
          </a:custGeom>
          <a:solidFill>
            <a:srgbClr val="FFFFFF"/>
          </a:solidFill>
          <a:ln w="7620" cap="flat" cmpd="sng" algn="ctr">
            <a:solidFill>
              <a:srgbClr val="FFFFFF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Shape 1060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L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Bk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745630"/>
                </a:moveTo>
                <a:cubicBezTo>
                  <a:pt x="-6208" y="4745630"/>
                  <a:pt x="8251613" y="8167954"/>
                  <a:pt x="12203007" y="5219924"/>
                </a:cubicBezTo>
              </a:path>
            </a:pathLst>
          </a:custGeom>
          <a:solidFill>
            <a:srgbClr val="FFFFFF"/>
          </a:solidFill>
          <a:ln w="6985" cap="flat" cmpd="sng" algn="ctr">
            <a:solidFill>
              <a:srgbClr val="FFFFFF">
                <a:alpha val="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Shape 1061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K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HOlAAAeAAAAaAAAAAAAAAAAAAAAAAAAAAAAAAAAAAAAECcAABAnAAAAAAAAAAAAAAAAAAAAAAAAAAAAAAAAAAAX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679931"/>
                </a:moveTo>
                <a:cubicBezTo>
                  <a:pt x="-6208" y="4679931"/>
                  <a:pt x="7943709" y="8095132"/>
                  <a:pt x="12201313" y="4878451"/>
                </a:cubicBezTo>
              </a:path>
            </a:pathLst>
          </a:custGeom>
          <a:solidFill>
            <a:srgbClr val="FFFFFF"/>
          </a:solidFill>
          <a:ln w="6350" cap="flat" cmpd="sng" algn="ctr">
            <a:solidFill>
              <a:srgbClr val="FFFFFF">
                <a:alpha val="77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Shape 1062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J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j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614233"/>
                </a:moveTo>
                <a:cubicBezTo>
                  <a:pt x="-6208" y="4614233"/>
                  <a:pt x="7635804" y="8022310"/>
                  <a:pt x="12199902" y="4536820"/>
                </a:cubicBezTo>
              </a:path>
            </a:pathLst>
          </a:custGeom>
          <a:solidFill>
            <a:srgbClr val="FFFFFF"/>
          </a:solidFill>
          <a:ln w="5715" cap="flat" cmpd="sng" algn="ctr">
            <a:solidFill>
              <a:srgbClr val="FFFFFF">
                <a:alpha val="65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7" name="Shape 1063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I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u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548693"/>
                </a:moveTo>
                <a:cubicBezTo>
                  <a:pt x="-6208" y="4548693"/>
                  <a:pt x="7327900" y="7949330"/>
                  <a:pt x="12198209" y="4195189"/>
                </a:cubicBezTo>
              </a:path>
            </a:pathLst>
          </a:custGeom>
          <a:solidFill>
            <a:srgbClr val="FFFFFF"/>
          </a:solidFill>
          <a:ln w="5080" cap="flat" cmpd="sng" algn="ctr">
            <a:solidFill>
              <a:srgbClr val="FFFFFF">
                <a:alpha val="54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Shape 1064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H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HOlAAAeAAAAaAAAAAAAAAAAAAAAAAAAAAAAAAAAAAAAECcAABAnAAAAAAAAAAAAAAAAAAAAAAAAAAAAAAAAAAA5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483153"/>
                </a:moveTo>
                <a:cubicBezTo>
                  <a:pt x="-6208" y="4483153"/>
                  <a:pt x="7019713" y="7876507"/>
                  <a:pt x="12196516" y="3853558"/>
                </a:cubicBezTo>
              </a:path>
            </a:pathLst>
          </a:custGeom>
          <a:solidFill>
            <a:srgbClr val="FFFFFF"/>
          </a:solidFill>
          <a:ln w="4445" cap="flat" cmpd="sng" algn="ctr">
            <a:solidFill>
              <a:srgbClr val="FFFFFF">
                <a:alpha val="43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Shape 1065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G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BE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417455"/>
                </a:moveTo>
                <a:cubicBezTo>
                  <a:pt x="-6208" y="4417455"/>
                  <a:pt x="6711809" y="7803685"/>
                  <a:pt x="12195104" y="3512086"/>
                </a:cubicBezTo>
              </a:path>
            </a:pathLst>
          </a:custGeom>
          <a:solidFill>
            <a:srgbClr val="FFFFFF"/>
          </a:solidFill>
          <a:ln w="3810" cap="flat" cmpd="sng" algn="ctr">
            <a:solidFill>
              <a:srgbClr val="FFFFFF">
                <a:alpha val="32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Shape 1066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F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HOlAAAeAAAAaAAAAAAAAAAAAAAAAAAAAAAAAAAAAAAAECcAABAnAAAAAAAAAAAAAAAAAAAAAAAAAAAAAAAAAABP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351757"/>
                </a:moveTo>
                <a:cubicBezTo>
                  <a:pt x="-6208" y="4351757"/>
                  <a:pt x="6403904" y="7730863"/>
                  <a:pt x="12193411" y="3170455"/>
                </a:cubicBezTo>
              </a:path>
            </a:pathLst>
          </a:custGeom>
          <a:solidFill>
            <a:srgbClr val="FFFFFF"/>
          </a:solidFill>
          <a:ln w="3175" cap="flat" cmpd="sng" algn="ctr">
            <a:solidFill>
              <a:srgbClr val="FFFFFF">
                <a:alpha val="21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Shape 1067"/>
          <p:cNvSpPr>
            <a:extLst>
              <a:ext uri="smNativeData">
                <pr:smNativeData xmlns:pr="smNativeData" xmlns="smNativeData" val="SMDATA_15_Ei8uaBMAAAAlAAAACwAAAA0AAAAAAAAAAAAAAAAASwAAEio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P///wAE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Bb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P///wB/f38A693DA8zMzADAwP8Af39/AAAAAAAAAAAAAAAAAAAAAAAAAAAAIQAAABgAAAAUAAAAAAAAAAAAAAAASwAAEioAABAAAAAmAAAACAAAAP//////////"/>
              </a:ext>
            </a:extLst>
          </p:cNvSpPr>
          <p:nvPr/>
        </p:nvSpPr>
        <p:spPr>
          <a:xfrm>
            <a:off x="0" y="0"/>
            <a:ext cx="12192000" cy="6838950"/>
          </a:xfrm>
          <a:custGeom>
            <a:avLst/>
            <a:gdLst/>
            <a:ahLst/>
            <a:cxnLst/>
            <a:rect l="0" t="0" r="12192000" b="6838950"/>
            <a:pathLst>
              <a:path w="12192000" h="6838950" fill="none">
                <a:moveTo>
                  <a:pt x="-6208" y="4286217"/>
                </a:moveTo>
                <a:cubicBezTo>
                  <a:pt x="-6208" y="4286217"/>
                  <a:pt x="6096000" y="7658041"/>
                  <a:pt x="12192000" y="2828824"/>
                </a:cubicBezTo>
              </a:path>
            </a:pathLst>
          </a:custGeom>
          <a:solidFill>
            <a:srgbClr val="FFFFFF"/>
          </a:solidFill>
          <a:ln w="2540" cap="flat" cmpd="sng" algn="ctr">
            <a:solidFill>
              <a:srgbClr val="FFFFFF">
                <a:alpha val="9000"/>
              </a:srgbClr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Tex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Q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gJAABARwAAsCUAABAAAAAmAAAACAAAAD8vAAD/Hw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Click to edit Master text styles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13" name="Date Placeholder 3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BonAABAFQAAWSkAABAAAAAmAAAACAAAAL+PAAD/HwAA"/>
              </a:ext>
            </a:extLst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ru-ru" sz="1200" cap="none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2A9EEADE-90C7-CB1C-8926-6649A4687F33}" type="datetime1">
              <a:t/>
            </a:fld>
          </a:p>
        </p:txBody>
      </p:sp>
      <p:sp>
        <p:nvSpPr>
          <p:cNvPr id="14" name="Footer Placeholder 4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K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kAABonAABgMQAAWSkAABAAAAAmAAAACAAAAL+PAAD/HwAA"/>
              </a:ext>
            </a:extLst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ru-ru" sz="1200" cap="none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</a:p>
        </p:txBody>
      </p:sp>
      <p:sp>
        <p:nvSpPr>
          <p:cNvPr id="15" name="Slide Number Placeholder 5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DUAABonAABARwAAWSkAABAAAAAmAAAACAAAAL+PAAD/HwAA"/>
              </a:ext>
            </a:extLst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ru-ru" sz="1200" cap="none">
                <a:solidFill>
                  <a:srgbClr val="8C8C8C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  <a:lvl6pPr>
              <a:defRPr lang="ru-ru"/>
            </a:lvl6pPr>
            <a:lvl7pPr>
              <a:defRPr lang="ru-ru"/>
            </a:lvl7pPr>
            <a:lvl8pPr>
              <a:defRPr lang="ru-ru"/>
            </a:lvl8pPr>
            <a:lvl9pPr>
              <a:defRPr lang="ru-ru"/>
            </a:lvl9pPr>
          </a:lstStyle>
          <a:p>
            <a:pPr>
              <a:defRPr lang="ru-ru"/>
            </a:pPr>
            <a:fld id="{2A9ED26B-25C7-CB24-8926-D3719C687F86}" type="slidenum">
              <a:t/>
            </a:fld>
          </a:p>
        </p:txBody>
      </p:sp>
      <p:sp>
        <p:nvSpPr>
          <p:cNvPr id="16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EBAABARwAAuQgAABAAAAAmAAAACAAAAL8vAAD/Hw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4400" b="1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32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4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–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»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0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0AMAAN0GAABvRgAAEhcAAAAAAAAmAAAACAAAAAEAAAAAAAAA"/>
              </a:ext>
            </a:extLst>
          </p:cNvSpPr>
          <p:nvPr>
            <p:ph type="title"/>
          </p:nvPr>
        </p:nvSpPr>
        <p:spPr>
          <a:xfrm>
            <a:off x="619760" y="1115695"/>
            <a:ext cx="10829925" cy="2634615"/>
          </a:xfrm>
        </p:spPr>
        <p:txBody>
          <a:bodyPr/>
          <a:lstStyle/>
          <a:p>
            <a:pPr>
              <a:defRPr lang="ru-ru" sz="4800" cap="none"/>
            </a:pPr>
            <a:r>
              <a:t>Разработка новостного научного веб-ресурса КубГУ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BmFQ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qB8AACIXAABvRgAAjiMAAAAAAAAmAAAACAAAAAEAAAAAAAAA"/>
              </a:ext>
            </a:extLst>
          </p:cNvSpPr>
          <p:nvPr>
            <p:ph type="body" idx="1"/>
          </p:nvPr>
        </p:nvSpPr>
        <p:spPr>
          <a:xfrm>
            <a:off x="5146040" y="3760470"/>
            <a:ext cx="6303645" cy="2019300"/>
          </a:xfrm>
        </p:spPr>
        <p:txBody>
          <a:bodyPr/>
          <a:lstStyle/>
          <a:p>
            <a:pPr marL="0" indent="0" algn="r">
              <a:buNone/>
              <a:defRPr lang="ru-ru" sz="2400" cap="none"/>
            </a:pPr>
            <a:r>
              <a:t>Выполнила: Иванченко П.А.</a:t>
            </a:r>
          </a:p>
          <a:p>
            <a:pPr marL="0" indent="0" algn="r">
              <a:buNone/>
              <a:defRPr lang="ru-ru" sz="2400" cap="none"/>
            </a:pPr>
            <a:r>
              <a:t>Научный руководитель: Еремин А.А.</a:t>
            </a:r>
          </a:p>
          <a:p>
            <a:pPr marL="0" indent="0" algn="r">
              <a:buNone/>
              <a:defRPr lang="ru-ru" sz="2400" cap="none"/>
            </a:pPr>
            <a:r>
              <a:t>Кубанский государственный университет</a:t>
            </a:r>
          </a:p>
          <a:p>
            <a:pPr marL="0" indent="0" algn="r">
              <a:buNone/>
              <a:defRPr lang="ru-ru" sz="2400" cap="none"/>
            </a:pPr>
            <a:r>
              <a:t>Кафедра вычислительных технологий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Nkmj8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Цель и задачи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IPTcv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NgJAABARw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  <a:defRPr lang="ru-ru" sz="2400" cap="none"/>
            </a:pPr>
            <a:r>
              <a:t>Цель: создание новостного веб-ресурса КубГУ</a:t>
            </a:r>
          </a:p>
          <a:p>
            <a:pPr marL="0" indent="0">
              <a:buNone/>
              <a:defRPr lang="ru-ru" sz="2400" cap="none"/>
            </a:pPr>
          </a:p>
          <a:p>
            <a:pPr marL="0" indent="0">
              <a:buNone/>
              <a:defRPr lang="ru-ru" sz="2400" cap="none"/>
            </a:pPr>
            <a:r>
              <a:t>Задачи:</a:t>
            </a:r>
          </a:p>
          <a:p>
            <a:pPr marL="0" indent="0">
              <a:buFont typeface="Arial" pitchFamily="2" charset="-52"/>
              <a:buChar char="–"/>
              <a:defRPr lang="ru-ru" sz="2400" cap="none"/>
            </a:pPr>
            <a:r>
              <a:t> Анализ предметной области</a:t>
            </a:r>
          </a:p>
          <a:p>
            <a:pPr marL="0" indent="0">
              <a:buFont typeface="Arial" pitchFamily="2" charset="-52"/>
              <a:buChar char="–"/>
              <a:defRPr lang="ru-ru" sz="2400" cap="none"/>
            </a:pPr>
            <a:r>
              <a:t> Проектирование архитектуры</a:t>
            </a:r>
          </a:p>
          <a:p>
            <a:pPr marL="0" indent="0">
              <a:buFont typeface="Arial" pitchFamily="2" charset="-52"/>
              <a:buChar char="–"/>
              <a:defRPr lang="ru-ru" sz="2400" cap="none"/>
            </a:pPr>
            <a:r>
              <a:t> Реализация интерфейса с разграничением прав</a:t>
            </a:r>
          </a:p>
          <a:p>
            <a:pPr marL="0" indent="0">
              <a:buFont typeface="Arial" pitchFamily="2" charset="-52"/>
              <a:buChar char="–"/>
              <a:defRPr lang="ru-ru" sz="2400" cap="none"/>
            </a:pPr>
            <a:r>
              <a:t> Разработка и интеграция API</a:t>
            </a:r>
          </a:p>
          <a:p>
            <a:pPr marL="0" indent="0">
              <a:buFont typeface="Arial" pitchFamily="2" charset="-52"/>
              <a:buChar char="–"/>
              <a:defRPr lang="ru-ru" sz="2400" cap="none"/>
            </a:pPr>
            <a:r>
              <a:t> Тестирование корректной работы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Актуальность темы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NgJAABYOQ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8712200" cy="4526280"/>
          </a:xfrm>
        </p:spPr>
        <p:txBody>
          <a:bodyPr/>
          <a:lstStyle/>
          <a:p>
            <a:pPr marL="0" indent="0">
              <a:buNone/>
              <a:defRPr lang="ru-ru" sz="2600" cap="none"/>
            </a:pPr>
            <a:r>
              <a:t>Отсутствие единого ресурса для публикации мероприятий снижает информированность и вовлеченность студентов и сотрудников.</a:t>
            </a:r>
          </a:p>
          <a:p>
            <a:pPr marL="0" indent="0">
              <a:buNone/>
              <a:defRPr lang="ru-ru" sz="2600" cap="none"/>
            </a:pPr>
          </a:p>
          <a:p>
            <a:pPr marL="0" indent="0">
              <a:buNone/>
              <a:defRPr lang="ru-ru" sz="2600" cap="none"/>
            </a:pPr>
            <a:r>
              <a:t>Решение — веб-приложение, позволяющее удобно публиковать и просматривать события, новости, а также подписываться на конкретные события.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Mo+dP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GWD6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NgJAABPFQAAIxc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2854325" cy="2160905"/>
          </a:xfrm>
        </p:spPr>
        <p:txBody>
          <a:bodyPr/>
          <a:lstStyle/>
          <a:p>
            <a:pPr marL="0" indent="0">
              <a:buNone/>
              <a:defRPr lang="ru-ru" sz="2600" cap="none"/>
            </a:pPr>
            <a:r>
              <a:t>Бэкенд:</a:t>
            </a:r>
          </a:p>
          <a:p>
            <a:pPr marL="0" indent="0">
              <a:buNone/>
              <a:defRPr lang="ru-ru" sz="2600" cap="none"/>
            </a:pPr>
            <a:r>
              <a:t>• Node.js</a:t>
            </a:r>
          </a:p>
          <a:p>
            <a:pPr marL="0" indent="0">
              <a:buNone/>
              <a:defRPr lang="ru-ru" sz="2600" cap="none"/>
            </a:pPr>
            <a:r>
              <a:t>• Express.js</a:t>
            </a:r>
          </a:p>
          <a:p>
            <a:pPr marL="0" indent="0">
              <a:buNone/>
              <a:defRPr lang="ru-ru" sz="2600" cap="none"/>
            </a:pPr>
            <a:r>
              <a:t>• PostgreSQL</a:t>
            </a:r>
          </a:p>
          <a:p>
            <a:pPr marL="0" indent="0">
              <a:buNone/>
              <a:defRPr lang="ru-ru" sz="2600" cap="none"/>
            </a:pPr>
            <a:r>
              <a:t>• Sequelize</a:t>
            </a:r>
          </a:p>
          <a:p>
            <a:pPr marL="0" indent="0">
              <a:buNone/>
              <a:defRPr lang="ru-ru"/>
            </a:pPr>
          </a:p>
        </p:txBody>
      </p:sp>
      <p:sp>
        <p:nvSpPr>
          <p:cNvPr id="4" name="Текстовое поле1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KRYAAN0JAADZKAAAExcAAAAAAAAmAAAACAAAAP//////////"/>
              </a:ext>
            </a:extLst>
          </p:cNvSpPr>
          <p:nvPr/>
        </p:nvSpPr>
        <p:spPr>
          <a:xfrm>
            <a:off x="3602355" y="1603375"/>
            <a:ext cx="3037840" cy="2147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>
              <a:buNone/>
              <a:defRPr lang="ru-ru" sz="2600" cap="none"/>
            </a:pPr>
            <a:r>
              <a:t>Фронтенд:</a:t>
            </a:r>
          </a:p>
          <a:p>
            <a:pPr marL="0" indent="0">
              <a:buNone/>
              <a:defRPr lang="ru-ru" sz="2600" cap="none"/>
            </a:pPr>
            <a:r>
              <a:t>• ReactJS</a:t>
            </a:r>
          </a:p>
          <a:p>
            <a:pPr marL="0" indent="0">
              <a:buNone/>
              <a:defRPr lang="ru-ru" sz="2600" cap="none"/>
            </a:pPr>
            <a:r>
              <a:t>• React Bootstrap</a:t>
            </a:r>
          </a:p>
          <a:p>
            <a:pPr marL="0" indent="0">
              <a:buNone/>
              <a:defRPr lang="ru-ru" sz="2600" cap="none"/>
            </a:pPr>
            <a:r>
              <a:t>• MobX</a:t>
            </a:r>
          </a:p>
        </p:txBody>
      </p:sp>
      <p:sp>
        <p:nvSpPr>
          <p:cNvPr id="5" name="Текстовое поле2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fCkAAOcJAAD4RQAAtxIAAAAAAAAmAAAACAAAAP//////////"/>
              </a:ext>
            </a:extLst>
          </p:cNvSpPr>
          <p:nvPr/>
        </p:nvSpPr>
        <p:spPr>
          <a:xfrm>
            <a:off x="6743700" y="1609725"/>
            <a:ext cx="4630420" cy="1432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>
              <a:buNone/>
              <a:defRPr lang="ru-ru" sz="2600" cap="none"/>
            </a:pPr>
            <a:r>
              <a:t>Прочее:</a:t>
            </a:r>
          </a:p>
          <a:p>
            <a:pPr marL="0" indent="0">
              <a:buNone/>
              <a:defRPr lang="ru-ru" sz="2600" cap="none"/>
            </a:pPr>
            <a:r>
              <a:t>• JWT, Nodemailer, node-cron</a:t>
            </a:r>
          </a:p>
          <a:p>
            <a:pPr>
              <a:defRPr lang="ru-ru"/>
            </a:pPr>
          </a:p>
          <a:p>
            <a:pPr>
              <a:defRPr lang="ru-ru"/>
            </a:pPr>
          </a:p>
        </p:txBody>
      </p:sp>
      <p:pic>
        <p:nvPicPr>
          <p:cNvPr id="6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pWAADrygAAOp0AAPz1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128750" y="32986345"/>
            <a:ext cx="11430000" cy="7000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Изображение2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JoDAADMGAAAyBgAAMU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" y="4030980"/>
            <a:ext cx="3442970" cy="210883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Изображение3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A/BDUE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JgdAABLGQAAKysAAGMl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0" y="4111625"/>
            <a:ext cx="2206625" cy="19659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Изображение4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OovAACLGgAA9UcAAJMi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788910" y="4314825"/>
            <a:ext cx="3908425" cy="13055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Jarq8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Архитектура и проектирование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AIAABARwAAiCQAAAAAAAAmAAAACAAAAAEAAAAAAAAA"/>
              </a:ext>
            </a:extLst>
          </p:cNvSpPr>
          <p:nvPr>
            <p:ph type="body" idx="1"/>
          </p:nvPr>
        </p:nvSpPr>
        <p:spPr>
          <a:xfrm>
            <a:off x="609600" y="1412240"/>
            <a:ext cx="10972800" cy="4526280"/>
          </a:xfrm>
        </p:spPr>
        <p:txBody>
          <a:bodyPr/>
          <a:lstStyle/>
          <a:p>
            <a:pPr marL="0" indent="0">
              <a:buNone/>
              <a:defRPr lang="ru-ru" sz="2600" cap="none"/>
            </a:pPr>
            <a:r>
              <a:t>Use-case диаграммы для разных ролей</a:t>
            </a:r>
          </a:p>
          <a:p>
            <a:pPr marL="0" indent="0">
              <a:buNone/>
              <a:defRPr lang="ru-ru" sz="2600" cap="none"/>
            </a:pP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DQsdC4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BYNAACLDAAAsz4AAGsh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0" y="2038985"/>
            <a:ext cx="8065135" cy="33934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Текстовое поле1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Fw0AAIshAAC0PgAAYSUAAAAAAAAmAAAACAAAAP//////////"/>
              </a:ext>
            </a:extLst>
          </p:cNvSpPr>
          <p:nvPr/>
        </p:nvSpPr>
        <p:spPr>
          <a:xfrm>
            <a:off x="2127885" y="5452745"/>
            <a:ext cx="8065135" cy="623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ctr">
              <a:buNone/>
              <a:defRPr lang="ru-ru" sz="2200" cap="none"/>
            </a:pPr>
            <a:r>
              <a:t>Use-case диаграмма для обычного пользователя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Dbs5V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PCNAADCdQAAmagAAGeF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3073360" y="19142710"/>
            <a:ext cx="4333875" cy="25431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Изображение2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B8VAACmFAAA30gAAA4o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433445" y="3356610"/>
            <a:ext cx="8412480" cy="31546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Изображение3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DECAADNAgAAPCQAAMcW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" y="455295"/>
            <a:ext cx="5534025" cy="32473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Текстовое поле1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pwEAABQXAACsEwAAnxwAAAAAAAAmAAAACAAAAP//////////"/>
              </a:ext>
            </a:extLst>
          </p:cNvSpPr>
          <p:nvPr/>
        </p:nvSpPr>
        <p:spPr>
          <a:xfrm>
            <a:off x="268605" y="3751580"/>
            <a:ext cx="2929255" cy="9010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>
              <a:buNone/>
              <a:defRPr lang="ru-ru" sz="2200" cap="none"/>
            </a:pPr>
            <a:r>
              <a:t>Use-case </a:t>
            </a:r>
          </a:p>
          <a:p>
            <a:pPr marL="0" indent="0">
              <a:buNone/>
              <a:defRPr lang="ru-ru" sz="2200" cap="none"/>
            </a:pPr>
            <a:r>
              <a:t>диаграмма для модератора</a:t>
            </a:r>
          </a:p>
        </p:txBody>
      </p:sp>
      <p:sp>
        <p:nvSpPr>
          <p:cNvPr id="6" name="Текстовое поле2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/yUAAOcPAAB8SQAAMhUAAAAAAAAmAAAACAAAAP//////////"/>
              </a:ext>
            </a:extLst>
          </p:cNvSpPr>
          <p:nvPr/>
        </p:nvSpPr>
        <p:spPr>
          <a:xfrm>
            <a:off x="6176645" y="2585085"/>
            <a:ext cx="5768975" cy="860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r">
              <a:buNone/>
              <a:defRPr lang="ru-ru" sz="2200" cap="none"/>
            </a:pPr>
            <a:r>
              <a:t>Use-case </a:t>
            </a:r>
          </a:p>
          <a:p>
            <a:pPr marL="0" indent="0" algn="r">
              <a:buNone/>
              <a:defRPr lang="ru-ru" sz="2200" cap="none"/>
            </a:pPr>
            <a:r>
              <a:t>диаграмма для администратора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Архитектура и проектирование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KEIAABARwAAeSQAAAAAAAAmAAAACAAAAAEAAAAAAAAA"/>
              </a:ext>
            </a:extLst>
          </p:cNvSpPr>
          <p:nvPr>
            <p:ph type="body" idx="1"/>
          </p:nvPr>
        </p:nvSpPr>
        <p:spPr>
          <a:xfrm>
            <a:off x="609600" y="1402715"/>
            <a:ext cx="10972800" cy="4526280"/>
          </a:xfrm>
        </p:spPr>
        <p:txBody>
          <a:bodyPr/>
          <a:lstStyle/>
          <a:p>
            <a:pPr marL="0" indent="0">
              <a:buNone/>
              <a:defRPr lang="ru-ru" sz="2600" cap="none"/>
            </a:pPr>
            <a:r>
              <a:t>Диаграмма компонентов:</a:t>
            </a:r>
          </a:p>
          <a:p>
            <a:pPr marL="0" marR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2" charset="-52"/>
              <a:buChar char="–"/>
              <a:tabLst/>
              <a:defRPr sz="2000" b="0" i="0" u="none" strike="noStrike" kern="1" cap="none" spc="0" baseline="0">
                <a:solidFill>
                  <a:srgbClr val="000000"/>
                </a:solidFill>
                <a:effectLst/>
                <a:latin typeface="Arial" pitchFamily="2" charset="-52"/>
                <a:ea typeface="Arial" pitchFamily="2" charset="-52"/>
                <a:cs typeface="Arial" pitchFamily="2" charset="-52"/>
              </a:defRPr>
            </a:pPr>
            <a:r>
              <a:t> </a:t>
            </a:r>
            <a:r>
              <a:rPr b="1" cap="none"/>
              <a:t>Client</a:t>
            </a:r>
            <a:r>
              <a:t> – часть проекта, доступная пользователям, которая посылает запросы для получения или добавления записей в базу данных;</a:t>
            </a:r>
          </a:p>
          <a:p>
            <a:pPr marL="0" marR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2" charset="-52"/>
              <a:buChar char="–"/>
              <a:tabLst/>
              <a:defRPr sz="2000" b="0" i="0" u="none" strike="noStrike" kern="1" cap="none" spc="0" baseline="0">
                <a:solidFill>
                  <a:srgbClr val="000000"/>
                </a:solidFill>
                <a:effectLst/>
                <a:latin typeface="Arial" pitchFamily="2" charset="-52"/>
                <a:ea typeface="Arial" pitchFamily="2" charset="-52"/>
                <a:cs typeface="Arial" pitchFamily="2" charset="-52"/>
              </a:defRPr>
            </a:pPr>
            <a:r>
              <a:t> </a:t>
            </a:r>
            <a:r>
              <a:rPr b="1" cap="none"/>
              <a:t>API</a:t>
            </a:r>
            <a:r>
              <a:t> – специальный сервис, который принимает запросы и передает их на серверную часть;</a:t>
            </a:r>
          </a:p>
          <a:p>
            <a:pPr marL="0" marR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2" charset="-52"/>
              <a:buChar char="–"/>
              <a:tabLst/>
              <a:defRPr sz="2000" b="0" i="0" u="none" strike="noStrike" kern="1" cap="none" spc="0" baseline="0">
                <a:solidFill>
                  <a:srgbClr val="000000"/>
                </a:solidFill>
                <a:effectLst/>
                <a:latin typeface="Arial" pitchFamily="2" charset="-52"/>
                <a:ea typeface="Arial" pitchFamily="2" charset="-52"/>
                <a:cs typeface="Arial" pitchFamily="2" charset="-52"/>
              </a:defRPr>
            </a:pPr>
            <a:r>
              <a:t> </a:t>
            </a:r>
            <a:r>
              <a:rPr b="1" cap="none"/>
              <a:t>DB</a:t>
            </a:r>
            <a:r>
              <a:t> – серверная часть, которая является базой данных и обрабатывает запросы от API.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0A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EAAAAjAAAABAAAAGQAAAAXAAAAFAAAAAAAAAAAAAAA/38AAP9/AAAAAAAACQAAAAQAAACiBgAAHgAAAGgAAAAAAAAAAAAAAAAAAAAAAAAAAAAAABAnAAAQJwAAAAAAAAAAAAAAAAAAAAAAAAAAAAAAAAAAAAAAAAAAAAAUAAAAAAAAAMDA/wAAAAAAZAAAADIAAAAAAAAAZAAAAAAAAAB/f38ACgAAACIAAAAYAAAAAAAAAAAAAAAAAAAAAAAAAAAAAAAAAAAAJAAAACQAAAAAAAAABwAAAAAAAAAAAAAAAAAAAAAAAAAAAAAAAAAAAAAAAAAlAAAAWAAAAAAAAAAAAAAAAAAAAAAAAAAAAAAAAAAAAAAAAAAAAAAAAAAAAAAAAAAAAAAAPwAAAAAAAACghgEAAAAAAAAAAAAAAAAADAAAAAEAAAAAAAAAAAAAAAAAAAAfAAAAVAAAAJS20gX///8BAAAAAAAAAAAAAAAAAAAAAAAAAAAAAAAAAAAAAAAAAAAAAAAAf39/AOvdwwPMzMwAwMD/AH9/fwAAAAAAAAAAAAAAAAD///8AAAAAACEAAAAYAAAAFAAAAL0DAAAyGgAAK0cAAC4o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" y="4258310"/>
            <a:ext cx="10961370" cy="22733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CwAy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Реализация: серверная часть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8IAABARwAAlyQAAAAAAAAmAAAACAAAAAEAAAAAAAAA"/>
              </a:ext>
            </a:extLst>
          </p:cNvSpPr>
          <p:nvPr>
            <p:ph type="body" idx="1"/>
          </p:nvPr>
        </p:nvSpPr>
        <p:spPr>
          <a:xfrm>
            <a:off x="609600" y="1421765"/>
            <a:ext cx="10972800" cy="4526280"/>
          </a:xfrm>
        </p:spPr>
        <p:txBody>
          <a:bodyPr/>
          <a:lstStyle/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Модели и контроллеры API и авторизация через JWT</a:t>
            </a:r>
          </a:p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Middleware для проверки ролей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AAAAAjAAAABAAAAGQAAAAXAAAAFAAAAAAAAAAAAAAA/38AAP9/AAAAAAAACQAAAAQAAABYAg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S20gX///8BAAAAAAAAAAAAAAAAAAAAAAAAAAAAAAAAAAAAAAAAAAAAAAACf39/AOvdwwPMzMwAwMD/AH9/fwAAAAAAAAAAAAAAAAD///8AAAAAACEAAAAYAAAAFAAAAJ8QAAALDwAAsjkAAFQg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701925" y="2445385"/>
            <a:ext cx="6677025" cy="28098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Текстовое поле1"/>
          <p:cNvSpPr txBox="1">
            <a:extLst>
              <a:ext uri="smNativeData">
                <pr:smNativeData xmlns:pr="smNativeData" xmlns="smNativeData" val="SMDATA_15_Ei8uaBMAAAAlAAAAEgAAAA8B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LbSBf///wEAAAAAAAAAAAAAAAAAAAAAAAAAAAAAAAAAAAAAAAAAAAAAAAJ/f38A693DA8zMzADAwP8Af39/AAAAAAAAAAAAAAAAAAAAAAAAAAAAIQAAABgAAAAUAAAApBAAAIsgAADFOQAA2yQAAAAAAAAmAAAACAAAAP//////////"/>
              </a:ext>
            </a:extLst>
          </p:cNvSpPr>
          <p:nvPr/>
        </p:nvSpPr>
        <p:spPr>
          <a:xfrm>
            <a:off x="2705100" y="5290185"/>
            <a:ext cx="6685915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ctr">
              <a:buNone/>
              <a:defRPr lang="ru-ru" sz="2200" cap="none"/>
            </a:pPr>
            <a:r>
              <a:t>Пример маршрутов в API для пользователей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Реализация: клиентская часть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NgJAABARw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Адаптивный интерфейс на ReactJS и React Bootstrap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0A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EAAAAjAAAABAAAAGQAAAAXAAAAFAAAAAAAAAAAAAAA/38AAP9/AAAAAAAACQAAAAQAAAAaBEMEHgAAAGgAAAAAAAAAAAAAAAAAAAAAAAAAAAAAABAnAAAQJwAAAAAAAAAAAAAAAAAAAAAAAAAAAAAAAAAAAAAAAAAAAAAUAAAAAAAAAMDA/wAAAAAAZAAAADIAAAAAAAAAZAAAAAAAAAB/f38ACgAAACIAAAAYAAAAAAAAAAAAAAAAAAAAAAAAAAAAAAAAAAAAJAAAACQAAAAAAAAABwAAAAAAAAAAAAAAAAAAAAAAAAAAAAAAAAAAAAAAAAAlAAAAWAAAAAAAAAAAAAAAAAAAAAAAAAAAAAAAAAAAAAAAAAAAAAAAAAAAAAAAAAAAAAAAPwAAAAAAAACghgEAAAAAAAAAAAAAAAAADAAAAAEAAAAAAAAAAAAAAAAAAAAfAAAAVAAAAJS20gX///8BAAAAAAAAAAAAAAAAAAAAAAAAAAAAAAAAAAAAAAAAAAAAAAAAf39/AOvdwwPMzMwAwMD/AH9/fwAAAAAAAAAAAAAAAAD///8AAAAAACEAAAAYAAAAFAAAAKcEAABYDQAA+CgAAMYk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169160"/>
            <a:ext cx="5903595" cy="38087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2"/>
          <p:cNvPicPr>
            <a:picLocks noChangeAspect="1"/>
            <a:extLst>
              <a:ext uri="smNativeData">
                <pr:smNativeData xmlns:pr="smNativeData" xmlns="smNativeData" val="SMDATA_17_Ei8uaBMAAAAlAAAAEQAAAC0A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EAAAAjAAAABAAAAGQAAAAXAAAAFAAAAAAAAAAAAAAA/38AAP9/AAAAAAAACQAAAAQAAAA7AGkAHgAAAGgAAAAAAAAAAAAAAAAAAAAAAAAAAAAAABAnAAAQJwAAAAAAAAAAAAAAAAAAAAAAAAAAAAAAAAAAAAAAAAAAAAAUAAAAAAAAAMDA/wAAAAAAZAAAADIAAAAAAAAAZAAAAAAAAAB/f38ACgAAACIAAAAYAAAAAAAAAAAAAAAAAAAAAAAAAAAAAAAAAAAAJAAAACQAAAAAAAAABwAAAAAAAAAAAAAAAAAAAAAAAAAAAAAAAAAAAAAAAAAlAAAAWAAAAAAAAAAAAAAAAAAAAAAAAAAAAAAAAAAAAAAAAAAAAAAAAAAAAAAAAAAAAAAAPwAAAAAAAACghgEAAAAAAAAAAAAAAAAADAAAAAEAAAAAAAAAAAAAAAAAAAAfAAAAVAAAAJS20gX///8BAAAAAAAAAAAAAAAAAAAAAAAAAAAAAAAAAAAAAAAAAAAAAAAAf39/AOvdwwPMzMwAwMD/AH9/fwAAAAAAAAAAAAAAAAD///8AAAAAACEAAAAYAAAAFAAAAH8wAABRDQAA8UUAABYY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883525" y="2164715"/>
            <a:ext cx="3486150" cy="17506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Изображение3"/>
          <p:cNvPicPr>
            <a:picLocks noChangeAspect="1"/>
            <a:extLst>
              <a:ext uri="smNativeData">
                <pr:smNativeData xmlns:pr="smNativeData" xmlns="smNativeData" val="SMDATA_17_Ei8uaBMAAAAlAAAAEQAAAC0A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E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AAAAAAlAAAAWAAAAAAAAAAAAAAAAAAAAAAAAAAAAAAAAAAAAAAAAAAAAAAAAAAAAAAAAAAAAAAAPwAAAAAAAACghgEAAAAAAAAAAAAAAAAADAAAAAEAAAAAAAAAAAAAAAAAAAAfAAAAVAAAAJS20gX///8BAAAAAAAAAAAAAAAAAAAAAAAAAAAAAAAAAAAAAAAAAAAAAAAAf39/AOvdwwPMzMwAwMD/AH9/fwAAAAAAAAAAAAAAAAD///8AAAAAACEAAAAYAAAAFAAAAPQpAAA3GQAA7kUAAL8k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4098925"/>
            <a:ext cx="4547870" cy="18745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ILihZ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AAAAAAmAAAACAAAAAEAAAAAAAAA"/>
              </a:ext>
            </a:extLst>
          </p:cNvSpPr>
          <p:nvPr>
            <p:ph type="title"/>
          </p:nvPr>
        </p:nvSpPr>
        <p:spPr>
          <a:xfrm>
            <a:off x="609600" y="274955"/>
            <a:ext cx="10972800" cy="1143000"/>
          </a:xfrm>
        </p:spPr>
        <p:txBody>
          <a:bodyPr/>
          <a:lstStyle/>
          <a:p>
            <a:pPr algn="l">
              <a:defRPr lang="ru-ru" sz="4800" cap="none"/>
            </a:pPr>
            <a:r>
              <a:t>Тестирование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vwMAANgJAACUIgAAsCUAAAAAAAAmAAAACAAAAAEAAAAAAAAA"/>
              </a:ext>
            </a:extLst>
          </p:cNvSpPr>
          <p:nvPr>
            <p:ph type="body" idx="1"/>
          </p:nvPr>
        </p:nvSpPr>
        <p:spPr>
          <a:xfrm>
            <a:off x="608965" y="1600200"/>
            <a:ext cx="5012055" cy="4526280"/>
          </a:xfrm>
        </p:spPr>
        <p:txBody>
          <a:bodyPr/>
          <a:lstStyle/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Проверка маршрутов через Postman</a:t>
            </a:r>
          </a:p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Проверка авторизации и ролей</a:t>
            </a:r>
          </a:p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Обработка ошибок 401, 403</a:t>
            </a:r>
          </a:p>
          <a:p>
            <a:pPr marL="0" indent="0">
              <a:buFont typeface="Arial" pitchFamily="2" charset="-52"/>
              <a:buChar char="–"/>
              <a:defRPr lang="ru-ru" sz="2600" cap="none"/>
            </a:pPr>
            <a:r>
              <a:t> Подтверждена безопасность и корректность API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Ei8uaBMAAAAlAAAAEQAAAC0AAAAAkAAAAEgAAACQAAAASAAAAAAAAAAAAAAAAAAAAAEAAABQAAAAAAAAAAAA4D8AAAAAAADgPwAAAAAAAOA/AAAAAAAA4D8AAAAAAADgPwAAAAAAAOA/AAAAAAAA4D8AAAAAAADgPwAAAAAAAOA/AAAAAAAA4D8CAAAAjAAAAAAAAAAAAAAAlLbS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AcAAAA4AAAAAAAAAAAAAAAAAAAA////AAAAAAAAAAAAAAAAAAAAAAAAAAAAAAAAAAAAAABkAAAAZAAAAAEAAAAjAAAABAAAAGQAAAAXAAAAFAAAAAAAAAAAAAAA/38AAP9/AAAAAAAACQAAAAQAAAC00LjQHgAAAGgAAAAAAAAAAAAAAAAAAAAAAAAAAAAAABAnAAAQJwAAAAAAAAAAAAAAAAAAAAAAAAAAAAAAAAAAAAAAAAAAAAAUAAAAAAAAAMDA/wAAAAAAZAAAADIAAAAAAAAAZAAAAAAAAAB/f38ACgAAACIAAAAYAAAAAAAAAAAAAAAAAAAAAAAAAAAAAAAAAAAAJAAAACQAAAAAAAAABwAAAAAAAAAAAAAAAAAAAAAAAAAAAAAAAAAAAAAAAAAlAAAAWAAAAAAAAAAAAAAAAAAAAAAAAAAAAAAAAAAAAAAAAAAAAAAAAAAAAAAAAAAAAAAAPwAAAAAAAACghgEAAAAAAAAAAAAAAAAADAAAAAEAAAAAAAAAAAAAAAAAAAAfAAAAVAAAAJS20gX///8BAAAAAAAAAAAAAAAAAAAAAAAAAAAAAAAAAAAAAAAAAAAAAAAAf39/AOvdwwPMzMwAwMD/AH9/fwAAAAAAAAAAAAAAAAD///8AAAAAACEAAAAYAAAAFAAAAPciAACVCQAAGkcAAOwd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683885" y="1557655"/>
            <a:ext cx="5874385" cy="33064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LEBAABARw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Ei8u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r3cM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693DA8zMzADAwP8Af39/AAAAAAAAAAAAAAAAAAAAAAAAAAAAIQAAABgAAAAUAAAAwAMAANgJAABARwAAsCUAAAAAAAAmAAAACAAAAAEAAAAAAAAA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lnSpc>
                <a:spcPct val="99000"/>
              </a:lnSpc>
              <a:buNone/>
              <a:defRPr lang="ru-ru" sz="2600" cap="none"/>
            </a:pPr>
            <a:r>
              <a:t>Итого, в процессе написания курсовой работы были выполнены следующие задачи:</a:t>
            </a:r>
          </a:p>
          <a:p>
            <a:pPr marL="0" indent="0">
              <a:buFont typeface="Arial" pitchFamily="2" charset="-52"/>
              <a:buChar char="–"/>
              <a:defRPr lang="ru-ru"/>
            </a:pPr>
            <a:r>
              <a:rPr lang="ru-ru" sz="2600" cap="none"/>
              <a:t> </a:t>
            </a:r>
            <a:r>
              <a:rPr sz="2600" cap="none">
                <a:solidFill>
                  <a:srgbClr val="000000"/>
                </a:solidFill>
              </a:rPr>
              <a:t>Разработано современное, интерактивное веб-приложение, предназначенное для информирования пользователей о мероприятиях Кубанского государственного университета;</a:t>
            </a:r>
            <a:endParaRPr sz="2600" cap="none">
              <a:solidFill>
                <a:srgbClr val="000000"/>
              </a:solidFill>
            </a:endParaRPr>
          </a:p>
          <a:p>
            <a:pPr marL="0" indent="0">
              <a:buFont typeface="Arial" pitchFamily="2" charset="-52"/>
              <a:buChar char="–"/>
              <a:defRPr sz="2600" cap="none">
                <a:solidFill>
                  <a:srgbClr val="000000"/>
                </a:solidFill>
              </a:defRPr>
            </a:pPr>
            <a:r>
              <a:t> Реализованы функции публикации новостей, отображения предстоящих событий, регистрации и авторизации пользователей с различными уровнями доступа;</a:t>
            </a:r>
          </a:p>
          <a:p>
            <a:pPr marL="0" indent="0">
              <a:buFont typeface="Arial" pitchFamily="2" charset="-52"/>
              <a:buChar char="–"/>
              <a:defRPr sz="2600" cap="none">
                <a:solidFill>
                  <a:srgbClr val="000000"/>
                </a:solidFill>
              </a:defRPr>
            </a:pPr>
            <a:r>
              <a:t> Сохранена возможность масштабирования.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775F55"/>
        </a:dk2>
        <a:lt2>
          <a:srgbClr val="EBDDC3"/>
        </a:lt2>
        <a:accent1>
          <a:srgbClr val="94B6D2"/>
        </a:accent1>
        <a:accent2>
          <a:srgbClr val="DD8047"/>
        </a:accent2>
        <a:accent3>
          <a:srgbClr val="A5AB81"/>
        </a:accent3>
        <a:accent4>
          <a:srgbClr val="D8B25C"/>
        </a:accent4>
        <a:accent5>
          <a:srgbClr val="7BA79D"/>
        </a:accent5>
        <a:accent6>
          <a:srgbClr val="968C8C"/>
        </a:accent6>
        <a:hlink>
          <a:srgbClr val="F7B615"/>
        </a:hlink>
        <a:folHlink>
          <a:srgbClr val="70440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подсистемы учета технологий переработки и утилизации отходов - бэкэнд</dc:title>
  <dc:subject/>
  <dc:creator>Tatyana</dc:creator>
  <cp:keywords/>
  <dc:description/>
  <cp:lastModifiedBy>pasha</cp:lastModifiedBy>
  <cp:revision>0</cp:revision>
  <dcterms:created xsi:type="dcterms:W3CDTF">2025-05-21T22:02:42Z</dcterms:created>
  <dcterms:modified xsi:type="dcterms:W3CDTF">2025-05-21T19:52:50Z</dcterms:modified>
</cp:coreProperties>
</file>